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6" d="100"/>
          <a:sy n="106" d="100"/>
        </p:scale>
        <p:origin x="62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946708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6350">
            <a:solidFill>
              <a:srgbClr val="1E2E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0"/>
            <a:ext cx="0" cy="5143500"/>
          </a:xfrm>
          <a:prstGeom prst="line">
            <a:avLst/>
          </a:prstGeom>
          <a:noFill/>
          <a:ln w="6350">
            <a:solidFill>
              <a:srgbClr val="1E2E4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0" y="0"/>
            <a:ext cx="0" cy="5143500"/>
          </a:xfrm>
          <a:prstGeom prst="line">
            <a:avLst/>
          </a:prstGeom>
          <a:noFill/>
          <a:ln w="6350">
            <a:solidFill>
              <a:srgbClr val="1E2E4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468880" y="0"/>
            <a:ext cx="0" cy="5143500"/>
          </a:xfrm>
          <a:prstGeom prst="line">
            <a:avLst/>
          </a:prstGeom>
          <a:noFill/>
          <a:ln w="6350">
            <a:solidFill>
              <a:srgbClr val="1E2E4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91840" y="0"/>
            <a:ext cx="0" cy="5143500"/>
          </a:xfrm>
          <a:prstGeom prst="line">
            <a:avLst/>
          </a:prstGeom>
          <a:noFill/>
          <a:ln w="6350">
            <a:solidFill>
              <a:srgbClr val="1E2E4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0" y="0"/>
            <a:ext cx="0" cy="5143500"/>
          </a:xfrm>
          <a:prstGeom prst="line">
            <a:avLst/>
          </a:prstGeom>
          <a:noFill/>
          <a:ln w="6350">
            <a:solidFill>
              <a:srgbClr val="1E2E4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937760" y="0"/>
            <a:ext cx="0" cy="5143500"/>
          </a:xfrm>
          <a:prstGeom prst="line">
            <a:avLst/>
          </a:prstGeom>
          <a:noFill/>
          <a:ln w="6350">
            <a:solidFill>
              <a:srgbClr val="1E2E4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760720" y="0"/>
            <a:ext cx="0" cy="5143500"/>
          </a:xfrm>
          <a:prstGeom prst="line">
            <a:avLst/>
          </a:prstGeom>
          <a:noFill/>
          <a:ln w="6350">
            <a:solidFill>
              <a:srgbClr val="1E2E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0" y="0"/>
            <a:ext cx="0" cy="5143500"/>
          </a:xfrm>
          <a:prstGeom prst="line">
            <a:avLst/>
          </a:prstGeom>
          <a:noFill/>
          <a:ln w="6350">
            <a:solidFill>
              <a:srgbClr val="1E2E4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406640" y="0"/>
            <a:ext cx="0" cy="5143500"/>
          </a:xfrm>
          <a:prstGeom prst="line">
            <a:avLst/>
          </a:prstGeom>
          <a:noFill/>
          <a:ln w="6350">
            <a:solidFill>
              <a:srgbClr val="1E2E4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6350">
            <a:solidFill>
              <a:srgbClr val="1E2E4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052560" y="0"/>
            <a:ext cx="0" cy="5143500"/>
          </a:xfrm>
          <a:prstGeom prst="line">
            <a:avLst/>
          </a:prstGeom>
          <a:noFill/>
          <a:ln w="6350">
            <a:solidFill>
              <a:srgbClr val="1E2E4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17920" y="-1097280"/>
            <a:ext cx="5029200" cy="5029200"/>
          </a:xfrm>
          <a:prstGeom prst="ellipse">
            <a:avLst/>
          </a:prstGeom>
          <a:solidFill>
            <a:srgbClr val="1565C0">
              <a:alpha val="1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949440" y="-365760"/>
            <a:ext cx="3474720" cy="3474720"/>
          </a:xfrm>
          <a:prstGeom prst="ellipse">
            <a:avLst/>
          </a:prstGeom>
          <a:solidFill>
            <a:srgbClr val="F0A500">
              <a:alpha val="12000"/>
            </a:srgbClr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>
            <a:alphaModFix amt="70000"/>
          </a:blip>
          <a:stretch>
            <a:fillRect/>
          </a:stretch>
        </p:blipFill>
        <p:spPr>
          <a:xfrm>
            <a:off x="5943600" y="822960"/>
            <a:ext cx="2560320" cy="2560320"/>
          </a:xfrm>
          <a:prstGeom prst="rect">
            <a:avLst/>
          </a:prstGeom>
        </p:spPr>
      </p:pic>
      <p:sp>
        <p:nvSpPr>
          <p:cNvPr id="17" name="Shape 14"/>
          <p:cNvSpPr/>
          <p:nvPr/>
        </p:nvSpPr>
        <p:spPr>
          <a:xfrm>
            <a:off x="502920" y="502920"/>
            <a:ext cx="2011680" cy="256032"/>
          </a:xfrm>
          <a:prstGeom prst="roundRect">
            <a:avLst>
              <a:gd name="adj" fmla="val 42857"/>
            </a:avLst>
          </a:prstGeom>
          <a:solidFill>
            <a:srgbClr val="F0A5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02920" y="50292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1B2A"/>
                </a:solidFill>
              </a:rPr>
              <a:t>SOFT SKILLS — PROJECT PRESENTATION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457200" y="1005840"/>
            <a:ext cx="5303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kern="0" spc="600" dirty="0">
                <a:solidFill>
                  <a:srgbClr val="8A93A8"/>
                </a:solidFill>
              </a:rPr>
              <a:t>THE SCIENCE OF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457200" y="1554480"/>
            <a:ext cx="56692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0000"/>
              </a:lnSpc>
              <a:buNone/>
            </a:pPr>
            <a:r>
              <a:rPr lang="en-US" sz="6400" b="1" dirty="0">
                <a:solidFill>
                  <a:srgbClr val="FFFFFF"/>
                </a:solidFill>
              </a:rPr>
              <a:t>FIRST</a:t>
            </a:r>
            <a:endParaRPr lang="en-US" sz="6400" dirty="0"/>
          </a:p>
          <a:p>
            <a:pPr marL="0" indent="0">
              <a:lnSpc>
                <a:spcPct val="90000"/>
              </a:lnSpc>
              <a:buNone/>
            </a:pPr>
            <a:r>
              <a:rPr lang="en-US" sz="6400" b="1" dirty="0">
                <a:solidFill>
                  <a:srgbClr val="FFFFFF"/>
                </a:solidFill>
              </a:rPr>
              <a:t>IMPRESSIONS</a:t>
            </a:r>
            <a:endParaRPr lang="en-US" sz="6400" dirty="0"/>
          </a:p>
        </p:txBody>
      </p:sp>
      <p:sp>
        <p:nvSpPr>
          <p:cNvPr id="21" name="Shape 18"/>
          <p:cNvSpPr/>
          <p:nvPr/>
        </p:nvSpPr>
        <p:spPr>
          <a:xfrm>
            <a:off x="457200" y="3611880"/>
            <a:ext cx="1645920" cy="64008"/>
          </a:xfrm>
          <a:prstGeom prst="rect">
            <a:avLst/>
          </a:prstGeom>
          <a:solidFill>
            <a:srgbClr val="F0A5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57200" y="37490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BDD5EA"/>
                </a:solidFill>
              </a:rPr>
              <a:t>You Are Judged in 100 Milliseconds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93A8"/>
                </a:solidFill>
              </a:rPr>
              <a:t>Parth Parikh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74320"/>
            <a:ext cx="36576" cy="36576"/>
          </a:xfrm>
          <a:prstGeom prst="ellipse">
            <a:avLst/>
          </a:prstGeom>
          <a:solidFill>
            <a:srgbClr val="2434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2688" y="274320"/>
            <a:ext cx="36576" cy="36576"/>
          </a:xfrm>
          <a:prstGeom prst="ellipse">
            <a:avLst/>
          </a:prstGeom>
          <a:solidFill>
            <a:srgbClr val="2434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591056" y="274320"/>
            <a:ext cx="36576" cy="36576"/>
          </a:xfrm>
          <a:prstGeom prst="ellipse">
            <a:avLst/>
          </a:prstGeom>
          <a:solidFill>
            <a:srgbClr val="2434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49424" y="274320"/>
            <a:ext cx="36576" cy="36576"/>
          </a:xfrm>
          <a:prstGeom prst="ellipse">
            <a:avLst/>
          </a:prstGeom>
          <a:solidFill>
            <a:srgbClr val="2434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907792" y="274320"/>
            <a:ext cx="36576" cy="36576"/>
          </a:xfrm>
          <a:prstGeom prst="ellipse">
            <a:avLst/>
          </a:prstGeom>
          <a:solidFill>
            <a:srgbClr val="2434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566160" y="274320"/>
            <a:ext cx="36576" cy="36576"/>
          </a:xfrm>
          <a:prstGeom prst="ellipse">
            <a:avLst/>
          </a:prstGeom>
          <a:solidFill>
            <a:srgbClr val="2434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224528" y="274320"/>
            <a:ext cx="36576" cy="36576"/>
          </a:xfrm>
          <a:prstGeom prst="ellipse">
            <a:avLst/>
          </a:prstGeom>
          <a:solidFill>
            <a:srgbClr val="2434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82896" y="274320"/>
            <a:ext cx="36576" cy="36576"/>
          </a:xfrm>
          <a:prstGeom prst="ellipse">
            <a:avLst/>
          </a:prstGeom>
          <a:solidFill>
            <a:srgbClr val="2434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541264" y="274320"/>
            <a:ext cx="36576" cy="36576"/>
          </a:xfrm>
          <a:prstGeom prst="ellipse">
            <a:avLst/>
          </a:prstGeom>
          <a:solidFill>
            <a:srgbClr val="2434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199632" y="274320"/>
            <a:ext cx="36576" cy="36576"/>
          </a:xfrm>
          <a:prstGeom prst="ellipse">
            <a:avLst/>
          </a:prstGeom>
          <a:solidFill>
            <a:srgbClr val="2434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0" y="274320"/>
            <a:ext cx="36576" cy="36576"/>
          </a:xfrm>
          <a:prstGeom prst="ellipse">
            <a:avLst/>
          </a:prstGeom>
          <a:solidFill>
            <a:srgbClr val="2434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516368" y="274320"/>
            <a:ext cx="36576" cy="36576"/>
          </a:xfrm>
          <a:prstGeom prst="ellipse">
            <a:avLst/>
          </a:prstGeom>
          <a:solidFill>
            <a:srgbClr val="2434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174736" y="274320"/>
            <a:ext cx="36576" cy="36576"/>
          </a:xfrm>
          <a:prstGeom prst="ellipse">
            <a:avLst/>
          </a:prstGeom>
          <a:solidFill>
            <a:srgbClr val="2434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833104" y="274320"/>
            <a:ext cx="36576" cy="36576"/>
          </a:xfrm>
          <a:prstGeom prst="ellipse">
            <a:avLst/>
          </a:prstGeom>
          <a:solidFill>
            <a:srgbClr val="2434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" y="932688"/>
            <a:ext cx="36576" cy="36576"/>
          </a:xfrm>
          <a:prstGeom prst="ellipse">
            <a:avLst/>
          </a:prstGeom>
          <a:solidFill>
            <a:srgbClr val="2434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32688" y="932688"/>
            <a:ext cx="36576" cy="36576"/>
          </a:xfrm>
          <a:prstGeom prst="ellipse">
            <a:avLst/>
          </a:prstGeom>
          <a:solidFill>
            <a:srgbClr val="2434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591056" y="932688"/>
            <a:ext cx="36576" cy="36576"/>
          </a:xfrm>
          <a:prstGeom prst="ellipse">
            <a:avLst/>
          </a:prstGeom>
          <a:solidFill>
            <a:srgbClr val="2434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49424" y="932688"/>
            <a:ext cx="36576" cy="36576"/>
          </a:xfrm>
          <a:prstGeom prst="ellipse">
            <a:avLst/>
          </a:prstGeom>
          <a:solidFill>
            <a:srgbClr val="2434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907792" y="932688"/>
            <a:ext cx="36576" cy="36576"/>
          </a:xfrm>
          <a:prstGeom prst="ellipse">
            <a:avLst/>
          </a:prstGeom>
          <a:solidFill>
            <a:srgbClr val="2434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566160" y="932688"/>
            <a:ext cx="36576" cy="36576"/>
          </a:xfrm>
          <a:prstGeom prst="ellipse">
            <a:avLst/>
          </a:prstGeom>
          <a:solidFill>
            <a:srgbClr val="2434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224528" y="932688"/>
            <a:ext cx="36576" cy="36576"/>
          </a:xfrm>
          <a:prstGeom prst="ellipse">
            <a:avLst/>
          </a:prstGeom>
          <a:solidFill>
            <a:srgbClr val="2434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882896" y="932688"/>
            <a:ext cx="36576" cy="36576"/>
          </a:xfrm>
          <a:prstGeom prst="ellipse">
            <a:avLst/>
          </a:prstGeom>
          <a:solidFill>
            <a:srgbClr val="2434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541264" y="932688"/>
            <a:ext cx="36576" cy="36576"/>
          </a:xfrm>
          <a:prstGeom prst="ellipse">
            <a:avLst/>
          </a:prstGeom>
          <a:solidFill>
            <a:srgbClr val="2434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199632" y="932688"/>
            <a:ext cx="36576" cy="36576"/>
          </a:xfrm>
          <a:prstGeom prst="ellipse">
            <a:avLst/>
          </a:prstGeom>
          <a:solidFill>
            <a:srgbClr val="2434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858000" y="932688"/>
            <a:ext cx="36576" cy="36576"/>
          </a:xfrm>
          <a:prstGeom prst="ellipse">
            <a:avLst/>
          </a:prstGeom>
          <a:solidFill>
            <a:srgbClr val="2434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516368" y="932688"/>
            <a:ext cx="36576" cy="36576"/>
          </a:xfrm>
          <a:prstGeom prst="ellipse">
            <a:avLst/>
          </a:prstGeom>
          <a:solidFill>
            <a:srgbClr val="2434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74736" y="932688"/>
            <a:ext cx="36576" cy="36576"/>
          </a:xfrm>
          <a:prstGeom prst="ellipse">
            <a:avLst/>
          </a:prstGeom>
          <a:solidFill>
            <a:srgbClr val="2434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833104" y="932688"/>
            <a:ext cx="36576" cy="36576"/>
          </a:xfrm>
          <a:prstGeom prst="ellipse">
            <a:avLst/>
          </a:prstGeom>
          <a:solidFill>
            <a:srgbClr val="2434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74320" y="1591056"/>
            <a:ext cx="36576" cy="36576"/>
          </a:xfrm>
          <a:prstGeom prst="ellipse">
            <a:avLst/>
          </a:prstGeom>
          <a:solidFill>
            <a:srgbClr val="2434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32688" y="1591056"/>
            <a:ext cx="36576" cy="36576"/>
          </a:xfrm>
          <a:prstGeom prst="ellipse">
            <a:avLst/>
          </a:prstGeom>
          <a:solidFill>
            <a:srgbClr val="2434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591056" y="1591056"/>
            <a:ext cx="36576" cy="36576"/>
          </a:xfrm>
          <a:prstGeom prst="ellipse">
            <a:avLst/>
          </a:prstGeom>
          <a:solidFill>
            <a:srgbClr val="2434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249424" y="1591056"/>
            <a:ext cx="36576" cy="36576"/>
          </a:xfrm>
          <a:prstGeom prst="ellipse">
            <a:avLst/>
          </a:prstGeom>
          <a:solidFill>
            <a:srgbClr val="2434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907792" y="1591056"/>
            <a:ext cx="36576" cy="36576"/>
          </a:xfrm>
          <a:prstGeom prst="ellipse">
            <a:avLst/>
          </a:prstGeom>
          <a:solidFill>
            <a:srgbClr val="2434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566160" y="1591056"/>
            <a:ext cx="36576" cy="36576"/>
          </a:xfrm>
          <a:prstGeom prst="ellipse">
            <a:avLst/>
          </a:prstGeom>
          <a:solidFill>
            <a:srgbClr val="2434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224528" y="1591056"/>
            <a:ext cx="36576" cy="36576"/>
          </a:xfrm>
          <a:prstGeom prst="ellipse">
            <a:avLst/>
          </a:prstGeom>
          <a:solidFill>
            <a:srgbClr val="2434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882896" y="1591056"/>
            <a:ext cx="36576" cy="36576"/>
          </a:xfrm>
          <a:prstGeom prst="ellipse">
            <a:avLst/>
          </a:prstGeom>
          <a:solidFill>
            <a:srgbClr val="2434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541264" y="1591056"/>
            <a:ext cx="36576" cy="36576"/>
          </a:xfrm>
          <a:prstGeom prst="ellipse">
            <a:avLst/>
          </a:prstGeom>
          <a:solidFill>
            <a:srgbClr val="2434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199632" y="1591056"/>
            <a:ext cx="36576" cy="36576"/>
          </a:xfrm>
          <a:prstGeom prst="ellipse">
            <a:avLst/>
          </a:prstGeom>
          <a:solidFill>
            <a:srgbClr val="2434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858000" y="1591056"/>
            <a:ext cx="36576" cy="36576"/>
          </a:xfrm>
          <a:prstGeom prst="ellipse">
            <a:avLst/>
          </a:prstGeom>
          <a:solidFill>
            <a:srgbClr val="2434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516368" y="1591056"/>
            <a:ext cx="36576" cy="36576"/>
          </a:xfrm>
          <a:prstGeom prst="ellipse">
            <a:avLst/>
          </a:prstGeom>
          <a:solidFill>
            <a:srgbClr val="2434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174736" y="1591056"/>
            <a:ext cx="36576" cy="36576"/>
          </a:xfrm>
          <a:prstGeom prst="ellipse">
            <a:avLst/>
          </a:prstGeom>
          <a:solidFill>
            <a:srgbClr val="2434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833104" y="1591056"/>
            <a:ext cx="36576" cy="36576"/>
          </a:xfrm>
          <a:prstGeom prst="ellipse">
            <a:avLst/>
          </a:prstGeom>
          <a:solidFill>
            <a:srgbClr val="2434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74320" y="2249424"/>
            <a:ext cx="36576" cy="36576"/>
          </a:xfrm>
          <a:prstGeom prst="ellipse">
            <a:avLst/>
          </a:prstGeom>
          <a:solidFill>
            <a:srgbClr val="2434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932688" y="2249424"/>
            <a:ext cx="36576" cy="36576"/>
          </a:xfrm>
          <a:prstGeom prst="ellipse">
            <a:avLst/>
          </a:prstGeom>
          <a:solidFill>
            <a:srgbClr val="2434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591056" y="2249424"/>
            <a:ext cx="36576" cy="36576"/>
          </a:xfrm>
          <a:prstGeom prst="ellipse">
            <a:avLst/>
          </a:prstGeom>
          <a:solidFill>
            <a:srgbClr val="2434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249424" y="2249424"/>
            <a:ext cx="36576" cy="36576"/>
          </a:xfrm>
          <a:prstGeom prst="ellipse">
            <a:avLst/>
          </a:prstGeom>
          <a:solidFill>
            <a:srgbClr val="2434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907792" y="2249424"/>
            <a:ext cx="36576" cy="36576"/>
          </a:xfrm>
          <a:prstGeom prst="ellipse">
            <a:avLst/>
          </a:prstGeom>
          <a:solidFill>
            <a:srgbClr val="2434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566160" y="2249424"/>
            <a:ext cx="36576" cy="36576"/>
          </a:xfrm>
          <a:prstGeom prst="ellipse">
            <a:avLst/>
          </a:prstGeom>
          <a:solidFill>
            <a:srgbClr val="2434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224528" y="2249424"/>
            <a:ext cx="36576" cy="36576"/>
          </a:xfrm>
          <a:prstGeom prst="ellipse">
            <a:avLst/>
          </a:prstGeom>
          <a:solidFill>
            <a:srgbClr val="2434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882896" y="2249424"/>
            <a:ext cx="36576" cy="36576"/>
          </a:xfrm>
          <a:prstGeom prst="ellipse">
            <a:avLst/>
          </a:prstGeom>
          <a:solidFill>
            <a:srgbClr val="2434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541264" y="2249424"/>
            <a:ext cx="36576" cy="36576"/>
          </a:xfrm>
          <a:prstGeom prst="ellipse">
            <a:avLst/>
          </a:prstGeom>
          <a:solidFill>
            <a:srgbClr val="2434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199632" y="2249424"/>
            <a:ext cx="36576" cy="36576"/>
          </a:xfrm>
          <a:prstGeom prst="ellipse">
            <a:avLst/>
          </a:prstGeom>
          <a:solidFill>
            <a:srgbClr val="2434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858000" y="2249424"/>
            <a:ext cx="36576" cy="36576"/>
          </a:xfrm>
          <a:prstGeom prst="ellipse">
            <a:avLst/>
          </a:prstGeom>
          <a:solidFill>
            <a:srgbClr val="2434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7516368" y="2249424"/>
            <a:ext cx="36576" cy="36576"/>
          </a:xfrm>
          <a:prstGeom prst="ellipse">
            <a:avLst/>
          </a:prstGeom>
          <a:solidFill>
            <a:srgbClr val="2434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8174736" y="2249424"/>
            <a:ext cx="36576" cy="36576"/>
          </a:xfrm>
          <a:prstGeom prst="ellipse">
            <a:avLst/>
          </a:prstGeom>
          <a:solidFill>
            <a:srgbClr val="2434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8833104" y="2249424"/>
            <a:ext cx="36576" cy="36576"/>
          </a:xfrm>
          <a:prstGeom prst="ellipse">
            <a:avLst/>
          </a:prstGeom>
          <a:solidFill>
            <a:srgbClr val="2434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2907792"/>
            <a:ext cx="36576" cy="36576"/>
          </a:xfrm>
          <a:prstGeom prst="ellipse">
            <a:avLst/>
          </a:prstGeom>
          <a:solidFill>
            <a:srgbClr val="2434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932688" y="2907792"/>
            <a:ext cx="36576" cy="36576"/>
          </a:xfrm>
          <a:prstGeom prst="ellipse">
            <a:avLst/>
          </a:prstGeom>
          <a:solidFill>
            <a:srgbClr val="2434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591056" y="2907792"/>
            <a:ext cx="36576" cy="36576"/>
          </a:xfrm>
          <a:prstGeom prst="ellipse">
            <a:avLst/>
          </a:prstGeom>
          <a:solidFill>
            <a:srgbClr val="2434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2249424" y="2907792"/>
            <a:ext cx="36576" cy="36576"/>
          </a:xfrm>
          <a:prstGeom prst="ellipse">
            <a:avLst/>
          </a:prstGeom>
          <a:solidFill>
            <a:srgbClr val="2434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2907792" y="2907792"/>
            <a:ext cx="36576" cy="36576"/>
          </a:xfrm>
          <a:prstGeom prst="ellipse">
            <a:avLst/>
          </a:prstGeom>
          <a:solidFill>
            <a:srgbClr val="2434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3566160" y="2907792"/>
            <a:ext cx="36576" cy="36576"/>
          </a:xfrm>
          <a:prstGeom prst="ellipse">
            <a:avLst/>
          </a:prstGeom>
          <a:solidFill>
            <a:srgbClr val="2434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4224528" y="2907792"/>
            <a:ext cx="36576" cy="36576"/>
          </a:xfrm>
          <a:prstGeom prst="ellipse">
            <a:avLst/>
          </a:prstGeom>
          <a:solidFill>
            <a:srgbClr val="2434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4882896" y="2907792"/>
            <a:ext cx="36576" cy="36576"/>
          </a:xfrm>
          <a:prstGeom prst="ellipse">
            <a:avLst/>
          </a:prstGeom>
          <a:solidFill>
            <a:srgbClr val="2434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5541264" y="2907792"/>
            <a:ext cx="36576" cy="36576"/>
          </a:xfrm>
          <a:prstGeom prst="ellipse">
            <a:avLst/>
          </a:prstGeom>
          <a:solidFill>
            <a:srgbClr val="2434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6199632" y="2907792"/>
            <a:ext cx="36576" cy="36576"/>
          </a:xfrm>
          <a:prstGeom prst="ellipse">
            <a:avLst/>
          </a:prstGeom>
          <a:solidFill>
            <a:srgbClr val="2434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6858000" y="2907792"/>
            <a:ext cx="36576" cy="36576"/>
          </a:xfrm>
          <a:prstGeom prst="ellipse">
            <a:avLst/>
          </a:prstGeom>
          <a:solidFill>
            <a:srgbClr val="2434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7516368" y="2907792"/>
            <a:ext cx="36576" cy="36576"/>
          </a:xfrm>
          <a:prstGeom prst="ellipse">
            <a:avLst/>
          </a:prstGeom>
          <a:solidFill>
            <a:srgbClr val="2434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8174736" y="2907792"/>
            <a:ext cx="36576" cy="36576"/>
          </a:xfrm>
          <a:prstGeom prst="ellipse">
            <a:avLst/>
          </a:prstGeom>
          <a:solidFill>
            <a:srgbClr val="2434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8833104" y="2907792"/>
            <a:ext cx="36576" cy="36576"/>
          </a:xfrm>
          <a:prstGeom prst="ellipse">
            <a:avLst/>
          </a:prstGeom>
          <a:solidFill>
            <a:srgbClr val="2434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274320" y="3566160"/>
            <a:ext cx="36576" cy="36576"/>
          </a:xfrm>
          <a:prstGeom prst="ellipse">
            <a:avLst/>
          </a:prstGeom>
          <a:solidFill>
            <a:srgbClr val="2434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932688" y="3566160"/>
            <a:ext cx="36576" cy="36576"/>
          </a:xfrm>
          <a:prstGeom prst="ellipse">
            <a:avLst/>
          </a:prstGeom>
          <a:solidFill>
            <a:srgbClr val="2434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1591056" y="3566160"/>
            <a:ext cx="36576" cy="36576"/>
          </a:xfrm>
          <a:prstGeom prst="ellipse">
            <a:avLst/>
          </a:prstGeom>
          <a:solidFill>
            <a:srgbClr val="2434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2249424" y="3566160"/>
            <a:ext cx="36576" cy="36576"/>
          </a:xfrm>
          <a:prstGeom prst="ellipse">
            <a:avLst/>
          </a:prstGeom>
          <a:solidFill>
            <a:srgbClr val="2434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2907792" y="3566160"/>
            <a:ext cx="36576" cy="36576"/>
          </a:xfrm>
          <a:prstGeom prst="ellipse">
            <a:avLst/>
          </a:prstGeom>
          <a:solidFill>
            <a:srgbClr val="2434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3566160" y="3566160"/>
            <a:ext cx="36576" cy="36576"/>
          </a:xfrm>
          <a:prstGeom prst="ellipse">
            <a:avLst/>
          </a:prstGeom>
          <a:solidFill>
            <a:srgbClr val="2434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4224528" y="3566160"/>
            <a:ext cx="36576" cy="36576"/>
          </a:xfrm>
          <a:prstGeom prst="ellipse">
            <a:avLst/>
          </a:prstGeom>
          <a:solidFill>
            <a:srgbClr val="2434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4882896" y="3566160"/>
            <a:ext cx="36576" cy="36576"/>
          </a:xfrm>
          <a:prstGeom prst="ellipse">
            <a:avLst/>
          </a:prstGeom>
          <a:solidFill>
            <a:srgbClr val="2434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5541264" y="3566160"/>
            <a:ext cx="36576" cy="36576"/>
          </a:xfrm>
          <a:prstGeom prst="ellipse">
            <a:avLst/>
          </a:prstGeom>
          <a:solidFill>
            <a:srgbClr val="2434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6199632" y="3566160"/>
            <a:ext cx="36576" cy="36576"/>
          </a:xfrm>
          <a:prstGeom prst="ellipse">
            <a:avLst/>
          </a:prstGeom>
          <a:solidFill>
            <a:srgbClr val="2434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6858000" y="3566160"/>
            <a:ext cx="36576" cy="36576"/>
          </a:xfrm>
          <a:prstGeom prst="ellipse">
            <a:avLst/>
          </a:prstGeom>
          <a:solidFill>
            <a:srgbClr val="2434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7516368" y="3566160"/>
            <a:ext cx="36576" cy="36576"/>
          </a:xfrm>
          <a:prstGeom prst="ellipse">
            <a:avLst/>
          </a:prstGeom>
          <a:solidFill>
            <a:srgbClr val="2434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8174736" y="3566160"/>
            <a:ext cx="36576" cy="36576"/>
          </a:xfrm>
          <a:prstGeom prst="ellipse">
            <a:avLst/>
          </a:prstGeom>
          <a:solidFill>
            <a:srgbClr val="2434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8833104" y="3566160"/>
            <a:ext cx="36576" cy="36576"/>
          </a:xfrm>
          <a:prstGeom prst="ellipse">
            <a:avLst/>
          </a:prstGeom>
          <a:solidFill>
            <a:srgbClr val="2434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274320" y="4224528"/>
            <a:ext cx="36576" cy="36576"/>
          </a:xfrm>
          <a:prstGeom prst="ellipse">
            <a:avLst/>
          </a:prstGeom>
          <a:solidFill>
            <a:srgbClr val="2434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932688" y="4224528"/>
            <a:ext cx="36576" cy="36576"/>
          </a:xfrm>
          <a:prstGeom prst="ellipse">
            <a:avLst/>
          </a:prstGeom>
          <a:solidFill>
            <a:srgbClr val="2434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1591056" y="4224528"/>
            <a:ext cx="36576" cy="36576"/>
          </a:xfrm>
          <a:prstGeom prst="ellipse">
            <a:avLst/>
          </a:prstGeom>
          <a:solidFill>
            <a:srgbClr val="2434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2249424" y="4224528"/>
            <a:ext cx="36576" cy="36576"/>
          </a:xfrm>
          <a:prstGeom prst="ellipse">
            <a:avLst/>
          </a:prstGeom>
          <a:solidFill>
            <a:srgbClr val="2434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2907792" y="4224528"/>
            <a:ext cx="36576" cy="36576"/>
          </a:xfrm>
          <a:prstGeom prst="ellipse">
            <a:avLst/>
          </a:prstGeom>
          <a:solidFill>
            <a:srgbClr val="2434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3566160" y="4224528"/>
            <a:ext cx="36576" cy="36576"/>
          </a:xfrm>
          <a:prstGeom prst="ellipse">
            <a:avLst/>
          </a:prstGeom>
          <a:solidFill>
            <a:srgbClr val="2434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4224528" y="4224528"/>
            <a:ext cx="36576" cy="36576"/>
          </a:xfrm>
          <a:prstGeom prst="ellipse">
            <a:avLst/>
          </a:prstGeom>
          <a:solidFill>
            <a:srgbClr val="2434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4882896" y="4224528"/>
            <a:ext cx="36576" cy="36576"/>
          </a:xfrm>
          <a:prstGeom prst="ellipse">
            <a:avLst/>
          </a:prstGeom>
          <a:solidFill>
            <a:srgbClr val="2434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5541264" y="4224528"/>
            <a:ext cx="36576" cy="36576"/>
          </a:xfrm>
          <a:prstGeom prst="ellipse">
            <a:avLst/>
          </a:prstGeom>
          <a:solidFill>
            <a:srgbClr val="2434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6199632" y="4224528"/>
            <a:ext cx="36576" cy="36576"/>
          </a:xfrm>
          <a:prstGeom prst="ellipse">
            <a:avLst/>
          </a:prstGeom>
          <a:solidFill>
            <a:srgbClr val="2434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6858000" y="4224528"/>
            <a:ext cx="36576" cy="36576"/>
          </a:xfrm>
          <a:prstGeom prst="ellipse">
            <a:avLst/>
          </a:prstGeom>
          <a:solidFill>
            <a:srgbClr val="2434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7516368" y="4224528"/>
            <a:ext cx="36576" cy="36576"/>
          </a:xfrm>
          <a:prstGeom prst="ellipse">
            <a:avLst/>
          </a:prstGeom>
          <a:solidFill>
            <a:srgbClr val="2434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8174736" y="4224528"/>
            <a:ext cx="36576" cy="36576"/>
          </a:xfrm>
          <a:prstGeom prst="ellipse">
            <a:avLst/>
          </a:prstGeom>
          <a:solidFill>
            <a:srgbClr val="2434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8833104" y="4224528"/>
            <a:ext cx="36576" cy="36576"/>
          </a:xfrm>
          <a:prstGeom prst="ellipse">
            <a:avLst/>
          </a:prstGeom>
          <a:solidFill>
            <a:srgbClr val="2434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274320" y="4882896"/>
            <a:ext cx="36576" cy="36576"/>
          </a:xfrm>
          <a:prstGeom prst="ellipse">
            <a:avLst/>
          </a:prstGeom>
          <a:solidFill>
            <a:srgbClr val="2434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932688" y="4882896"/>
            <a:ext cx="36576" cy="36576"/>
          </a:xfrm>
          <a:prstGeom prst="ellipse">
            <a:avLst/>
          </a:prstGeom>
          <a:solidFill>
            <a:srgbClr val="2434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1591056" y="4882896"/>
            <a:ext cx="36576" cy="36576"/>
          </a:xfrm>
          <a:prstGeom prst="ellipse">
            <a:avLst/>
          </a:prstGeom>
          <a:solidFill>
            <a:srgbClr val="2434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2249424" y="4882896"/>
            <a:ext cx="36576" cy="36576"/>
          </a:xfrm>
          <a:prstGeom prst="ellipse">
            <a:avLst/>
          </a:prstGeom>
          <a:solidFill>
            <a:srgbClr val="2434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2907792" y="4882896"/>
            <a:ext cx="36576" cy="36576"/>
          </a:xfrm>
          <a:prstGeom prst="ellipse">
            <a:avLst/>
          </a:prstGeom>
          <a:solidFill>
            <a:srgbClr val="2434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3566160" y="4882896"/>
            <a:ext cx="36576" cy="36576"/>
          </a:xfrm>
          <a:prstGeom prst="ellipse">
            <a:avLst/>
          </a:prstGeom>
          <a:solidFill>
            <a:srgbClr val="2434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4224528" y="4882896"/>
            <a:ext cx="36576" cy="36576"/>
          </a:xfrm>
          <a:prstGeom prst="ellipse">
            <a:avLst/>
          </a:prstGeom>
          <a:solidFill>
            <a:srgbClr val="2434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4882896" y="4882896"/>
            <a:ext cx="36576" cy="36576"/>
          </a:xfrm>
          <a:prstGeom prst="ellipse">
            <a:avLst/>
          </a:prstGeom>
          <a:solidFill>
            <a:srgbClr val="2434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5541264" y="4882896"/>
            <a:ext cx="36576" cy="36576"/>
          </a:xfrm>
          <a:prstGeom prst="ellipse">
            <a:avLst/>
          </a:prstGeom>
          <a:solidFill>
            <a:srgbClr val="2434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6199632" y="4882896"/>
            <a:ext cx="36576" cy="36576"/>
          </a:xfrm>
          <a:prstGeom prst="ellipse">
            <a:avLst/>
          </a:prstGeom>
          <a:solidFill>
            <a:srgbClr val="2434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6858000" y="4882896"/>
            <a:ext cx="36576" cy="36576"/>
          </a:xfrm>
          <a:prstGeom prst="ellipse">
            <a:avLst/>
          </a:prstGeom>
          <a:solidFill>
            <a:srgbClr val="2434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7516368" y="4882896"/>
            <a:ext cx="36576" cy="36576"/>
          </a:xfrm>
          <a:prstGeom prst="ellipse">
            <a:avLst/>
          </a:prstGeom>
          <a:solidFill>
            <a:srgbClr val="2434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8174736" y="4882896"/>
            <a:ext cx="36576" cy="36576"/>
          </a:xfrm>
          <a:prstGeom prst="ellipse">
            <a:avLst/>
          </a:prstGeom>
          <a:solidFill>
            <a:srgbClr val="2434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8833104" y="4882896"/>
            <a:ext cx="36576" cy="36576"/>
          </a:xfrm>
          <a:prstGeom prst="ellipse">
            <a:avLst/>
          </a:prstGeom>
          <a:solidFill>
            <a:srgbClr val="243450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114" name="Image 0" descr="preencoded.png"/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6858000" y="914400"/>
            <a:ext cx="1828800" cy="1828800"/>
          </a:xfrm>
          <a:prstGeom prst="rect">
            <a:avLst/>
          </a:prstGeom>
        </p:spPr>
      </p:pic>
      <p:sp>
        <p:nvSpPr>
          <p:cNvPr id="115" name="Shape 112"/>
          <p:cNvSpPr/>
          <p:nvPr/>
        </p:nvSpPr>
        <p:spPr>
          <a:xfrm>
            <a:off x="502920" y="384048"/>
            <a:ext cx="2011680" cy="256032"/>
          </a:xfrm>
          <a:prstGeom prst="roundRect">
            <a:avLst>
              <a:gd name="adj" fmla="val 42857"/>
            </a:avLst>
          </a:prstGeom>
          <a:solidFill>
            <a:srgbClr val="F0A5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6" name="Text 113"/>
          <p:cNvSpPr/>
          <p:nvPr/>
        </p:nvSpPr>
        <p:spPr>
          <a:xfrm>
            <a:off x="502920" y="38404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1B2A"/>
                </a:solidFill>
              </a:rPr>
              <a:t>THE HOOK</a:t>
            </a:r>
            <a:endParaRPr lang="en-US" sz="850" dirty="0"/>
          </a:p>
        </p:txBody>
      </p:sp>
      <p:sp>
        <p:nvSpPr>
          <p:cNvPr id="117" name="Text 114"/>
          <p:cNvSpPr/>
          <p:nvPr/>
        </p:nvSpPr>
        <p:spPr>
          <a:xfrm>
            <a:off x="457200" y="777240"/>
            <a:ext cx="6217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BDD5EA"/>
                </a:solidFill>
              </a:rPr>
              <a:t>"Before you speak a single word..."</a:t>
            </a:r>
            <a:endParaRPr lang="en-US" sz="1800" dirty="0"/>
          </a:p>
        </p:txBody>
      </p:sp>
      <p:sp>
        <p:nvSpPr>
          <p:cNvPr id="118" name="Text 115"/>
          <p:cNvSpPr/>
          <p:nvPr/>
        </p:nvSpPr>
        <p:spPr>
          <a:xfrm>
            <a:off x="274320" y="1417320"/>
            <a:ext cx="64008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0" b="1" dirty="0">
                <a:solidFill>
                  <a:srgbClr val="F0A500"/>
                </a:solidFill>
              </a:rPr>
              <a:t>100ms</a:t>
            </a:r>
            <a:endParaRPr lang="en-US" sz="11000" dirty="0"/>
          </a:p>
        </p:txBody>
      </p:sp>
      <p:sp>
        <p:nvSpPr>
          <p:cNvPr id="119" name="Text 116"/>
          <p:cNvSpPr/>
          <p:nvPr/>
        </p:nvSpPr>
        <p:spPr>
          <a:xfrm>
            <a:off x="457200" y="352044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DD5EA"/>
                </a:solidFill>
              </a:rPr>
              <a:t>One tenth of a second.</a:t>
            </a:r>
            <a:endParaRPr lang="en-US" sz="1400" dirty="0"/>
          </a:p>
        </p:txBody>
      </p:sp>
      <p:sp>
        <p:nvSpPr>
          <p:cNvPr id="120" name="Text 117"/>
          <p:cNvSpPr/>
          <p:nvPr/>
        </p:nvSpPr>
        <p:spPr>
          <a:xfrm>
            <a:off x="457200" y="3931920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3A8"/>
                </a:solidFill>
              </a:rPr>
              <a:t>Faster than a blink. Faster than a camera shutter.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A93A8"/>
                </a:solidFill>
              </a:rPr>
              <a:t>And in that moment — you have already been judged.</a:t>
            </a:r>
            <a:endParaRPr lang="en-US" sz="1100" dirty="0"/>
          </a:p>
        </p:txBody>
      </p:sp>
      <p:sp>
        <p:nvSpPr>
          <p:cNvPr id="121" name="Text 118"/>
          <p:cNvSpPr/>
          <p:nvPr/>
        </p:nvSpPr>
        <p:spPr>
          <a:xfrm>
            <a:off x="457200" y="482803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485C80"/>
                </a:solidFill>
              </a:rPr>
              <a:t>Source: Willis &amp; Todorov, Princeton University (2006)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5143500"/>
          </a:xfrm>
          <a:prstGeom prst="rect">
            <a:avLst/>
          </a:prstGeom>
          <a:solidFill>
            <a:srgbClr val="0D1B2A"/>
          </a:solidFill>
          <a:ln w="12700">
            <a:solidFill>
              <a:srgbClr val="33333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502920"/>
            <a:ext cx="594360" cy="59436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320040" y="1234440"/>
            <a:ext cx="2011680" cy="256032"/>
          </a:xfrm>
          <a:prstGeom prst="roundRect">
            <a:avLst>
              <a:gd name="adj" fmla="val 42857"/>
            </a:avLst>
          </a:prstGeom>
          <a:solidFill>
            <a:srgbClr val="F0A5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20040" y="123444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1B2A"/>
                </a:solidFill>
              </a:rPr>
              <a:t>AUDIENCE INTERACTION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320040" y="1600200"/>
            <a:ext cx="3200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4200" b="1" dirty="0">
                <a:solidFill>
                  <a:srgbClr val="FFFFFF"/>
                </a:solidFill>
              </a:rPr>
              <a:t>Quick</a:t>
            </a:r>
            <a:endParaRPr lang="en-US" sz="4200" dirty="0"/>
          </a:p>
          <a:p>
            <a:pPr marL="0" indent="0">
              <a:lnSpc>
                <a:spcPct val="92000"/>
              </a:lnSpc>
              <a:buNone/>
            </a:pPr>
            <a:r>
              <a:rPr lang="en-US" sz="4200" b="1" dirty="0">
                <a:solidFill>
                  <a:srgbClr val="FFFFFF"/>
                </a:solidFill>
              </a:rPr>
              <a:t>Question</a:t>
            </a:r>
            <a:endParaRPr lang="en-US" sz="4200" dirty="0"/>
          </a:p>
        </p:txBody>
      </p:sp>
      <p:sp>
        <p:nvSpPr>
          <p:cNvPr id="7" name="Text 4"/>
          <p:cNvSpPr/>
          <p:nvPr/>
        </p:nvSpPr>
        <p:spPr>
          <a:xfrm>
            <a:off x="320040" y="3063240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DD5EA"/>
                </a:solidFill>
              </a:rPr>
              <a:t>Think of someone you judged the moment you first met them.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20040" y="379476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A500"/>
                </a:solidFill>
              </a:rPr>
              <a:t>Were you right?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F0A500"/>
                </a:solidFill>
              </a:rPr>
              <a:t>Or completely wrong?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160520" y="502920"/>
            <a:ext cx="457200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7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160520" y="502920"/>
            <a:ext cx="82296" cy="1874520"/>
          </a:xfrm>
          <a:prstGeom prst="rect">
            <a:avLst/>
          </a:prstGeom>
          <a:solidFill>
            <a:srgbClr val="2E7D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343400" y="68580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235"/>
                </a:solidFill>
              </a:rPr>
              <a:t>YES — I was right.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4343400" y="1188720"/>
            <a:ext cx="4206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</a:rPr>
              <a:t>The person's first impression matched exactly who they turned out to be.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160520" y="2651760"/>
            <a:ext cx="457200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7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160520" y="2651760"/>
            <a:ext cx="82296" cy="1874520"/>
          </a:xfrm>
          <a:prstGeom prst="rect">
            <a:avLst/>
          </a:prstGeom>
          <a:solidFill>
            <a:srgbClr val="C6282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343400" y="283464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235"/>
                </a:solidFill>
              </a:rPr>
              <a:t>NO — I was wrong.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4343400" y="3337560"/>
            <a:ext cx="4206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</a:rPr>
              <a:t>My brain made a snap judgment that turned out to be completely off. And yet — it felt so certain.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160520" y="475488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8A93A8"/>
                </a:solidFill>
              </a:rPr>
              <a:t>Either answer proves the same science.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103120"/>
          </a:xfrm>
          <a:prstGeom prst="rect">
            <a:avLst/>
          </a:prstGeom>
          <a:solidFill>
            <a:srgbClr val="0F1F35"/>
          </a:solidFill>
          <a:ln w="12700">
            <a:solidFill>
              <a:srgbClr val="33333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274320"/>
            <a:ext cx="822960" cy="82296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11480" y="347472"/>
            <a:ext cx="2011680" cy="256032"/>
          </a:xfrm>
          <a:prstGeom prst="roundRect">
            <a:avLst>
              <a:gd name="adj" fmla="val 42857"/>
            </a:avLst>
          </a:prstGeom>
          <a:solidFill>
            <a:srgbClr val="F0A5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11480" y="34747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1B2A"/>
                </a:solidFill>
              </a:rPr>
              <a:t>THE SCIENCE  ·  STUDY 1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411480" y="68580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Princeton University, 2006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411480" y="137160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ABCC"/>
                </a:solidFill>
              </a:rPr>
              <a:t>Janine Willis &amp; Alexander Todorov  —  face judgment research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11480" y="2286000"/>
            <a:ext cx="265176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7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11480" y="2286000"/>
            <a:ext cx="2651760" cy="109728"/>
          </a:xfrm>
          <a:prstGeom prst="rect">
            <a:avLst/>
          </a:prstGeom>
          <a:solidFill>
            <a:srgbClr val="F0A5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21208" y="2487168"/>
            <a:ext cx="2423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0A500"/>
                </a:solidFill>
              </a:rPr>
              <a:t>100ms</a:t>
            </a:r>
            <a:endParaRPr lang="en-US" sz="3600" dirty="0"/>
          </a:p>
        </p:txBody>
      </p:sp>
      <p:sp>
        <p:nvSpPr>
          <p:cNvPr id="11" name="Text 8"/>
          <p:cNvSpPr/>
          <p:nvPr/>
        </p:nvSpPr>
        <p:spPr>
          <a:xfrm>
            <a:off x="521208" y="3291840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235"/>
                </a:solidFill>
              </a:rPr>
              <a:t>Time to form a judgment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521208" y="3913632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99"/>
                </a:solidFill>
              </a:rPr>
              <a:t>One tenth of a second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3319272" y="2286000"/>
            <a:ext cx="265176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7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319272" y="2286000"/>
            <a:ext cx="2651760" cy="109728"/>
          </a:xfrm>
          <a:prstGeom prst="rect">
            <a:avLst/>
          </a:prstGeom>
          <a:solidFill>
            <a:srgbClr val="1E88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29000" y="2487168"/>
            <a:ext cx="2423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88E5"/>
                </a:solidFill>
              </a:rPr>
              <a:t>= 5 min</a:t>
            </a:r>
            <a:endParaRPr lang="en-US" sz="3600" dirty="0"/>
          </a:p>
        </p:txBody>
      </p:sp>
      <p:sp>
        <p:nvSpPr>
          <p:cNvPr id="16" name="Text 13"/>
          <p:cNvSpPr/>
          <p:nvPr/>
        </p:nvSpPr>
        <p:spPr>
          <a:xfrm>
            <a:off x="3429000" y="3291840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235"/>
                </a:solidFill>
              </a:rPr>
              <a:t>Longer exposure changes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1A2235"/>
                </a:solidFill>
              </a:rPr>
              <a:t>the decision by...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3429000" y="3913632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99"/>
                </a:solidFill>
              </a:rPr>
              <a:t>Zero. Same judgment, just more confident.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6227064" y="2286000"/>
            <a:ext cx="265176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7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6227064" y="2286000"/>
            <a:ext cx="2651760" cy="109728"/>
          </a:xfrm>
          <a:prstGeom prst="rect">
            <a:avLst/>
          </a:prstGeom>
          <a:solidFill>
            <a:srgbClr val="00695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336792" y="2487168"/>
            <a:ext cx="2423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0695C"/>
                </a:solidFill>
              </a:rPr>
              <a:t>2,500+</a:t>
            </a:r>
            <a:endParaRPr lang="en-US" sz="3600" dirty="0"/>
          </a:p>
        </p:txBody>
      </p:sp>
      <p:sp>
        <p:nvSpPr>
          <p:cNvPr id="21" name="Text 18"/>
          <p:cNvSpPr/>
          <p:nvPr/>
        </p:nvSpPr>
        <p:spPr>
          <a:xfrm>
            <a:off x="6336792" y="3291840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235"/>
                </a:solidFill>
              </a:rPr>
              <a:t>Face pairs shown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1A2235"/>
                </a:solidFill>
              </a:rPr>
              <a:t>in the experiment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6336792" y="3913632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99"/>
                </a:solidFill>
              </a:rPr>
              <a:t>Results were statistically consistent.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411480" y="4800600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A93A8"/>
                </a:solidFill>
              </a:rPr>
              <a:t>"Giving people more time didn't change the judgment. It only made them more confident in it."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74320"/>
            <a:ext cx="2011680" cy="256032"/>
          </a:xfrm>
          <a:prstGeom prst="roundRect">
            <a:avLst>
              <a:gd name="adj" fmla="val 42857"/>
            </a:avLst>
          </a:prstGeom>
          <a:solidFill>
            <a:srgbClr val="F0A5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7432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1B2A"/>
                </a:solidFill>
              </a:rPr>
              <a:t>THE SCIENCE  ·  STUDY 2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11480" y="594360"/>
            <a:ext cx="8321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D1B2A"/>
                </a:solidFill>
              </a:rPr>
              <a:t>Warmth vs. Competence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11480" y="1261872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3A8"/>
                </a:solidFill>
              </a:rPr>
              <a:t>Harvard Professor Amy Cuddy — what we actually judge in the first seconds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11480" y="1691640"/>
            <a:ext cx="8321040" cy="0"/>
          </a:xfrm>
          <a:prstGeom prst="line">
            <a:avLst/>
          </a:prstGeom>
          <a:noFill/>
          <a:ln w="9525">
            <a:solidFill>
              <a:srgbClr val="E8EDF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874520"/>
            <a:ext cx="3977640" cy="2926080"/>
          </a:xfrm>
          <a:prstGeom prst="rect">
            <a:avLst/>
          </a:prstGeom>
          <a:solidFill>
            <a:srgbClr val="0A3554"/>
          </a:solidFill>
          <a:ln w="12700">
            <a:solidFill>
              <a:srgbClr val="33333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1993392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kern="0" spc="400" dirty="0">
                <a:solidFill>
                  <a:srgbClr val="F0A500"/>
                </a:solidFill>
              </a:rPr>
              <a:t>WARMTH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02920" y="2487168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DD5EA"/>
                </a:solidFill>
              </a:rPr>
              <a:t>Judged FIRST  —  always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292608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D0E4F7"/>
                </a:solidFill>
              </a:rPr>
              <a:t>Can I trust this person?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D0E4F7"/>
                </a:solidFill>
              </a:rPr>
              <a:t>Are they genuine?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D0E4F7"/>
                </a:solidFill>
              </a:rPr>
              <a:t>Are they safe to be around?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3913632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AABCC"/>
                </a:solidFill>
              </a:rPr>
              <a:t>In an interview: You can be technically brilliant —</a:t>
            </a:r>
            <a:endParaRPr lang="en-US" sz="1000" dirty="0"/>
          </a:p>
          <a:p>
            <a:pPr marL="0" indent="0">
              <a:buNone/>
            </a:pPr>
            <a:r>
              <a:rPr lang="en-US" sz="1000" i="1" dirty="0">
                <a:solidFill>
                  <a:srgbClr val="8AABCC"/>
                </a:solidFill>
              </a:rPr>
              <a:t>but if you feel cold, you lose trust first.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800600" y="1874520"/>
            <a:ext cx="397764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7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800600" y="1874520"/>
            <a:ext cx="3977640" cy="73152"/>
          </a:xfrm>
          <a:prstGeom prst="rect">
            <a:avLst/>
          </a:prstGeom>
          <a:solidFill>
            <a:srgbClr val="1E88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19472" y="1993392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kern="0" spc="400" dirty="0">
                <a:solidFill>
                  <a:srgbClr val="1E88E5"/>
                </a:solidFill>
              </a:rPr>
              <a:t>COMPETENCE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919472" y="2487168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235"/>
                </a:solidFill>
              </a:rPr>
              <a:t>Judged SECOND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19472" y="292608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</a:rPr>
              <a:t>Can this person do the job?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</a:rPr>
              <a:t>Are they intelligent and prepared?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</a:rPr>
              <a:t>Should I trust their judgment?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919472" y="3913632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A93A8"/>
                </a:solidFill>
              </a:rPr>
              <a:t>Only evaluated after warmth is established.</a:t>
            </a:r>
            <a:endParaRPr lang="en-US" sz="1000" dirty="0"/>
          </a:p>
          <a:p>
            <a:pPr marL="0" indent="0">
              <a:buNone/>
            </a:pPr>
            <a:r>
              <a:rPr lang="en-US" sz="1000" i="1" dirty="0">
                <a:solidFill>
                  <a:srgbClr val="8A93A8"/>
                </a:solidFill>
              </a:rPr>
              <a:t>Skip warmth — competence may never be seen.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361688" y="3063240"/>
            <a:ext cx="411480" cy="73152"/>
          </a:xfrm>
          <a:prstGeom prst="rect">
            <a:avLst/>
          </a:prstGeom>
          <a:solidFill>
            <a:srgbClr val="F0A5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43400" y="31546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0A500"/>
                </a:solidFill>
              </a:rPr>
              <a:t>THEN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0" y="-1371600"/>
            <a:ext cx="6400800" cy="6400800"/>
          </a:xfrm>
          <a:prstGeom prst="ellipse">
            <a:avLst/>
          </a:prstGeom>
          <a:solidFill>
            <a:srgbClr val="1A3A6E">
              <a:alpha val="40000"/>
            </a:srgbClr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75000"/>
          </a:blip>
          <a:stretch>
            <a:fillRect/>
          </a:stretch>
        </p:blipFill>
        <p:spPr>
          <a:xfrm>
            <a:off x="7680960" y="320040"/>
            <a:ext cx="1097280" cy="109728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11480" y="347472"/>
            <a:ext cx="2011680" cy="256032"/>
          </a:xfrm>
          <a:prstGeom prst="roundRect">
            <a:avLst>
              <a:gd name="adj" fmla="val 42857"/>
            </a:avLst>
          </a:prstGeom>
          <a:solidFill>
            <a:srgbClr val="F0A5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11480" y="34747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1B2A"/>
                </a:solidFill>
              </a:rPr>
              <a:t>THE SCIENCE  ·  STUDY 3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411480" y="685800"/>
            <a:ext cx="6858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</a:rPr>
              <a:t>The Halo Effect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411480" y="146304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ABCC"/>
                </a:solidFill>
              </a:rPr>
              <a:t>Edward Thorndike, 1920  —  how one good signal shapes everything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11480" y="1938528"/>
            <a:ext cx="8321040" cy="1078992"/>
          </a:xfrm>
          <a:prstGeom prst="rect">
            <a:avLst/>
          </a:prstGeom>
          <a:solidFill>
            <a:srgbClr val="112240"/>
          </a:solidFill>
          <a:ln w="19050">
            <a:solidFill>
              <a:srgbClr val="1E88E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48640" y="2029968"/>
            <a:ext cx="8046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0E4F7"/>
                </a:solidFill>
              </a:rPr>
              <a:t>When we detect ONE positive quality in a person — confidence, dress, eye contact —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D0E4F7"/>
                </a:solidFill>
              </a:rPr>
              <a:t>our brain automatically assumes they also possess other positive qualities.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1234440" y="3200400"/>
            <a:ext cx="640080" cy="64008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0160" y="3246120"/>
            <a:ext cx="548640" cy="5486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11480" y="39319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0A500"/>
                </a:solidFill>
              </a:rPr>
              <a:t>Better-Dressed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411480" y="4315968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AABCC"/>
                </a:solidFill>
              </a:rPr>
              <a:t>Interviewees rated higher on intelligence tests — even when told to ignore appearance.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4160520" y="3200400"/>
            <a:ext cx="640080" cy="64008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06240" y="3246120"/>
            <a:ext cx="548640" cy="54864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337560" y="39319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0A500"/>
                </a:solidFill>
              </a:rPr>
              <a:t>Firm Handshake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3337560" y="4315968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AABCC"/>
                </a:solidFill>
              </a:rPr>
              <a:t>Correlates with higher hiring scores, leadership perception, and salary offers.</a:t>
            </a:r>
            <a:endParaRPr lang="en-US" sz="950" dirty="0"/>
          </a:p>
        </p:txBody>
      </p:sp>
      <p:sp>
        <p:nvSpPr>
          <p:cNvPr id="18" name="Shape 13"/>
          <p:cNvSpPr/>
          <p:nvPr/>
        </p:nvSpPr>
        <p:spPr>
          <a:xfrm>
            <a:off x="7086600" y="3200400"/>
            <a:ext cx="640080" cy="64008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32320" y="3246120"/>
            <a:ext cx="548640" cy="54864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263640" y="39319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0A500"/>
                </a:solidFill>
              </a:rPr>
              <a:t>Confident Posture</a:t>
            </a:r>
            <a:endParaRPr lang="en-US" sz="1200" dirty="0"/>
          </a:p>
        </p:txBody>
      </p:sp>
      <p:sp>
        <p:nvSpPr>
          <p:cNvPr id="21" name="Text 15"/>
          <p:cNvSpPr/>
          <p:nvPr/>
        </p:nvSpPr>
        <p:spPr>
          <a:xfrm>
            <a:off x="6263640" y="4315968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AABCC"/>
                </a:solidFill>
              </a:rPr>
              <a:t>Same CV, different posture: upright candidates perceived 40% more competent.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2011680" cy="256032"/>
          </a:xfrm>
          <a:prstGeom prst="roundRect">
            <a:avLst>
              <a:gd name="adj" fmla="val 42857"/>
            </a:avLst>
          </a:prstGeom>
          <a:solidFill>
            <a:srgbClr val="F0A5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1B2A"/>
                </a:solidFill>
              </a:rPr>
              <a:t>THE BREAKDOWN  ·  MEHRABIAN'S RESEARCH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11480" y="566928"/>
            <a:ext cx="8321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2A"/>
                </a:solidFill>
              </a:rPr>
              <a:t>What Actually Creates Your First Impression?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298448"/>
            <a:ext cx="8321040" cy="0"/>
          </a:xfrm>
          <a:prstGeom prst="line">
            <a:avLst/>
          </a:prstGeom>
          <a:noFill/>
          <a:ln w="9525">
            <a:solidFill>
              <a:srgbClr val="E8EDF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481328"/>
            <a:ext cx="2697480" cy="3017520"/>
          </a:xfrm>
          <a:prstGeom prst="rect">
            <a:avLst/>
          </a:prstGeom>
          <a:solidFill>
            <a:srgbClr val="0D1B2A"/>
          </a:solidFill>
          <a:ln w="12700">
            <a:solidFill>
              <a:srgbClr val="33333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11480" y="1627632"/>
            <a:ext cx="2514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FFFFFF"/>
                </a:solidFill>
              </a:rPr>
              <a:t>55%</a:t>
            </a:r>
            <a:endParaRPr lang="en-US" sz="7200" dirty="0"/>
          </a:p>
        </p:txBody>
      </p:sp>
      <p:sp>
        <p:nvSpPr>
          <p:cNvPr id="8" name="Text 6"/>
          <p:cNvSpPr/>
          <p:nvPr/>
        </p:nvSpPr>
        <p:spPr>
          <a:xfrm>
            <a:off x="411480" y="3090672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200" dirty="0">
                <a:solidFill>
                  <a:srgbClr val="FFFFFF"/>
                </a:solidFill>
              </a:rPr>
              <a:t>BODY LANGUAGE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" y="3566160"/>
            <a:ext cx="2514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BDD5EA"/>
                </a:solidFill>
              </a:rPr>
              <a:t>Posture · Eye Contact · Facial Expression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46120" y="1481328"/>
            <a:ext cx="2697480" cy="3017520"/>
          </a:xfrm>
          <a:prstGeom prst="rect">
            <a:avLst/>
          </a:prstGeom>
          <a:solidFill>
            <a:srgbClr val="1E88E5"/>
          </a:solidFill>
          <a:ln w="12700">
            <a:solidFill>
              <a:srgbClr val="33333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337560" y="1627632"/>
            <a:ext cx="2514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FFFFFF"/>
                </a:solidFill>
              </a:rPr>
              <a:t>38%</a:t>
            </a:r>
            <a:endParaRPr lang="en-US" sz="7200" dirty="0"/>
          </a:p>
        </p:txBody>
      </p:sp>
      <p:sp>
        <p:nvSpPr>
          <p:cNvPr id="12" name="Text 10"/>
          <p:cNvSpPr/>
          <p:nvPr/>
        </p:nvSpPr>
        <p:spPr>
          <a:xfrm>
            <a:off x="3337560" y="3090672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200" dirty="0">
                <a:solidFill>
                  <a:srgbClr val="FFFFFF"/>
                </a:solidFill>
              </a:rPr>
              <a:t>TONE OF VOICE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37560" y="3566160"/>
            <a:ext cx="2514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BDD5EA"/>
                </a:solidFill>
              </a:rPr>
              <a:t>Speed · Warmth · Confidence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172200" y="1481328"/>
            <a:ext cx="2697480" cy="3017520"/>
          </a:xfrm>
          <a:prstGeom prst="rect">
            <a:avLst/>
          </a:prstGeom>
          <a:solidFill>
            <a:srgbClr val="F0A500"/>
          </a:solidFill>
          <a:ln w="12700">
            <a:solidFill>
              <a:srgbClr val="33333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263640" y="1627632"/>
            <a:ext cx="2514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0D1B2A"/>
                </a:solidFill>
              </a:rPr>
              <a:t> 7%</a:t>
            </a:r>
            <a:endParaRPr lang="en-US" sz="7200" dirty="0"/>
          </a:p>
        </p:txBody>
      </p:sp>
      <p:sp>
        <p:nvSpPr>
          <p:cNvPr id="16" name="Text 14"/>
          <p:cNvSpPr/>
          <p:nvPr/>
        </p:nvSpPr>
        <p:spPr>
          <a:xfrm>
            <a:off x="6263640" y="3090672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200" dirty="0">
                <a:solidFill>
                  <a:srgbClr val="0D1B2A"/>
                </a:solidFill>
              </a:rPr>
              <a:t>ACTUAL WORDS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263640" y="3566160"/>
            <a:ext cx="2514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D1B2A"/>
                </a:solidFill>
              </a:rPr>
              <a:t>What you literally say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11480" y="4681728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</a:rPr>
              <a:t>93% of what people judge you on — you can engineer, practise, and control.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5143500"/>
          </a:xfrm>
          <a:prstGeom prst="rect">
            <a:avLst/>
          </a:prstGeom>
          <a:solidFill>
            <a:srgbClr val="0A2540"/>
          </a:solidFill>
          <a:ln w="12700">
            <a:solidFill>
              <a:srgbClr val="33333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0A500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548640"/>
            <a:ext cx="1005840" cy="10058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783080"/>
            <a:ext cx="2011680" cy="256032"/>
          </a:xfrm>
          <a:prstGeom prst="roundRect">
            <a:avLst>
              <a:gd name="adj" fmla="val 42857"/>
            </a:avLst>
          </a:prstGeom>
          <a:solidFill>
            <a:srgbClr val="F0A5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178308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1B2A"/>
                </a:solidFill>
              </a:rPr>
              <a:t>INTERACTION #2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320040" y="2103120"/>
            <a:ext cx="34747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88000"/>
              </a:lnSpc>
              <a:buNone/>
            </a:pPr>
            <a:r>
              <a:rPr lang="en-US" sz="5200" b="1" dirty="0">
                <a:solidFill>
                  <a:srgbClr val="FFFFFF"/>
                </a:solidFill>
              </a:rPr>
              <a:t>Live</a:t>
            </a:r>
            <a:endParaRPr lang="en-US" sz="5200" dirty="0"/>
          </a:p>
          <a:p>
            <a:pPr marL="0" indent="0">
              <a:lnSpc>
                <a:spcPct val="88000"/>
              </a:lnSpc>
              <a:buNone/>
            </a:pPr>
            <a:r>
              <a:rPr lang="en-US" sz="5200" b="1" dirty="0">
                <a:solidFill>
                  <a:srgbClr val="FFFFFF"/>
                </a:solidFill>
              </a:rPr>
              <a:t>Demo</a:t>
            </a:r>
            <a:endParaRPr lang="en-US" sz="5200" dirty="0"/>
          </a:p>
        </p:txBody>
      </p:sp>
      <p:sp>
        <p:nvSpPr>
          <p:cNvPr id="8" name="Text 5"/>
          <p:cNvSpPr/>
          <p:nvPr/>
        </p:nvSpPr>
        <p:spPr>
          <a:xfrm>
            <a:off x="320040" y="4005072"/>
            <a:ext cx="3474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ABCC"/>
                </a:solidFill>
              </a:rPr>
              <a:t>First Impression Gap: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8AABCC"/>
                </a:solidFill>
              </a:rPr>
              <a:t>Intent vs. Perception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343400" y="3657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0A500"/>
                </a:solidFill>
              </a:rPr>
              <a:t>01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4983480" y="384048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Volunteer Steps Out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983480" y="82296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ABCC"/>
                </a:solidFill>
              </a:rPr>
              <a:t>Ask one confident classmate to wait outside the door for 10 seconds.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343400" y="1417320"/>
            <a:ext cx="4434840" cy="0"/>
          </a:xfrm>
          <a:prstGeom prst="line">
            <a:avLst/>
          </a:prstGeom>
          <a:noFill/>
          <a:ln w="9525">
            <a:solidFill>
              <a:srgbClr val="24345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343400" y="15087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0A500"/>
                </a:solidFill>
              </a:rPr>
              <a:t>02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4983480" y="1527048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Class Observes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4983480" y="196596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ABCC"/>
                </a:solidFill>
              </a:rPr>
              <a:t>Everyone watches silently as they walk back in. Notice posture, energy, expression.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4343400" y="2560320"/>
            <a:ext cx="4434840" cy="0"/>
          </a:xfrm>
          <a:prstGeom prst="line">
            <a:avLst/>
          </a:prstGeom>
          <a:noFill/>
          <a:ln w="9525">
            <a:solidFill>
              <a:srgbClr val="24345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343400" y="26517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0A500"/>
                </a:solidFill>
              </a:rPr>
              <a:t>03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4983480" y="2670048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Share Judgments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4983480" y="310896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ABCC"/>
                </a:solidFill>
              </a:rPr>
              <a:t>3 people share: what was your first impression in those first seconds?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4343400" y="3703320"/>
            <a:ext cx="4434840" cy="0"/>
          </a:xfrm>
          <a:prstGeom prst="line">
            <a:avLst/>
          </a:prstGeom>
          <a:noFill/>
          <a:ln w="9525">
            <a:solidFill>
              <a:srgbClr val="24345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343400" y="37947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0A500"/>
                </a:solidFill>
              </a:rPr>
              <a:t>04</a:t>
            </a:r>
            <a:endParaRPr lang="en-US" sz="2000" dirty="0"/>
          </a:p>
        </p:txBody>
      </p:sp>
      <p:sp>
        <p:nvSpPr>
          <p:cNvPr id="22" name="Text 19"/>
          <p:cNvSpPr/>
          <p:nvPr/>
        </p:nvSpPr>
        <p:spPr>
          <a:xfrm>
            <a:off x="4983480" y="3813048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The Reveal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4983480" y="425196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ABCC"/>
                </a:solidFill>
              </a:rPr>
              <a:t>Ask the volunteer: what were you trying to communicate? The gap between intent and perception = the science.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2011680" cy="256032"/>
          </a:xfrm>
          <a:prstGeom prst="roundRect">
            <a:avLst>
              <a:gd name="adj" fmla="val 42857"/>
            </a:avLst>
          </a:prstGeom>
          <a:solidFill>
            <a:srgbClr val="F0A5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1B2A"/>
                </a:solidFill>
              </a:rPr>
              <a:t>TAKING CONTROL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11480" y="566928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1B2A"/>
                </a:solidFill>
              </a:rPr>
              <a:t>5 Science-Backed Techniques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11480" y="1234440"/>
            <a:ext cx="8321040" cy="0"/>
          </a:xfrm>
          <a:prstGeom prst="line">
            <a:avLst/>
          </a:prstGeom>
          <a:noFill/>
          <a:ln w="9525">
            <a:solidFill>
              <a:srgbClr val="E8EDF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47472" y="1417320"/>
            <a:ext cx="39776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7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618488"/>
            <a:ext cx="566928" cy="566928"/>
          </a:xfrm>
          <a:prstGeom prst="ellipse">
            <a:avLst/>
          </a:prstGeom>
          <a:solidFill>
            <a:srgbClr val="EBF3FF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" y="1655064"/>
            <a:ext cx="484632" cy="48463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70432" y="1508760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1B2A"/>
                </a:solidFill>
              </a:rPr>
              <a:t>Power Posture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1170432" y="187452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</a:rPr>
              <a:t>Stand tall, shoulders back. Signals confidence before you speak. Research: perceived 40% more competent.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800600" y="1417320"/>
            <a:ext cx="39776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7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910328" y="1618488"/>
            <a:ext cx="566928" cy="566928"/>
          </a:xfrm>
          <a:prstGeom prst="ellipse">
            <a:avLst/>
          </a:prstGeom>
          <a:solidFill>
            <a:srgbClr val="EBF3FF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46904" y="1655064"/>
            <a:ext cx="484632" cy="48463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623560" y="1508760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1B2A"/>
                </a:solidFill>
              </a:rPr>
              <a:t>Genuine Smile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5623560" y="187452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</a:rPr>
              <a:t>A real smile is detected in 50ms. Fake smiles are spotted even faster. Be actually glad to be there.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347472" y="2606040"/>
            <a:ext cx="39776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7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57200" y="2807208"/>
            <a:ext cx="566928" cy="566928"/>
          </a:xfrm>
          <a:prstGeom prst="ellipse">
            <a:avLst/>
          </a:prstGeom>
          <a:solidFill>
            <a:srgbClr val="EBF3FF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776" y="2843784"/>
            <a:ext cx="484632" cy="48463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170432" y="2697480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1B2A"/>
                </a:solidFill>
              </a:rPr>
              <a:t>Eye Contact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1170432" y="306324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</a:rPr>
              <a:t>Hold 60–70% eye contact. Less = untrustworthy. More = aggressive. One sentence per person.</a:t>
            </a:r>
            <a:endParaRPr lang="en-US" sz="950" dirty="0"/>
          </a:p>
        </p:txBody>
      </p:sp>
      <p:sp>
        <p:nvSpPr>
          <p:cNvPr id="21" name="Shape 16"/>
          <p:cNvSpPr/>
          <p:nvPr/>
        </p:nvSpPr>
        <p:spPr>
          <a:xfrm>
            <a:off x="4800600" y="2606040"/>
            <a:ext cx="39776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7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4910328" y="2807208"/>
            <a:ext cx="566928" cy="566928"/>
          </a:xfrm>
          <a:prstGeom prst="ellipse">
            <a:avLst/>
          </a:prstGeom>
          <a:solidFill>
            <a:srgbClr val="EBF3FF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46904" y="2843784"/>
            <a:ext cx="484632" cy="48463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623560" y="2697480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1B2A"/>
                </a:solidFill>
              </a:rPr>
              <a:t>First 7 Words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5623560" y="306324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</a:rPr>
              <a:t>"Good morning, I'm genuinely glad to be here." Sets warmth before any content is shared.</a:t>
            </a:r>
            <a:endParaRPr lang="en-US" sz="950" dirty="0"/>
          </a:p>
        </p:txBody>
      </p:sp>
      <p:sp>
        <p:nvSpPr>
          <p:cNvPr id="26" name="Shape 20"/>
          <p:cNvSpPr/>
          <p:nvPr/>
        </p:nvSpPr>
        <p:spPr>
          <a:xfrm>
            <a:off x="2578608" y="3794760"/>
            <a:ext cx="39776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7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2688336" y="3995928"/>
            <a:ext cx="566928" cy="566928"/>
          </a:xfrm>
          <a:prstGeom prst="ellipse">
            <a:avLst/>
          </a:prstGeom>
          <a:solidFill>
            <a:srgbClr val="EBF3FF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24912" y="4032504"/>
            <a:ext cx="484632" cy="484632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3401568" y="3886200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1B2A"/>
                </a:solidFill>
              </a:rPr>
              <a:t>Dress with Intent</a:t>
            </a:r>
            <a:endParaRPr lang="en-US" sz="1250" dirty="0"/>
          </a:p>
        </p:txBody>
      </p:sp>
      <p:sp>
        <p:nvSpPr>
          <p:cNvPr id="30" name="Text 23"/>
          <p:cNvSpPr/>
          <p:nvPr/>
        </p:nvSpPr>
        <p:spPr>
          <a:xfrm>
            <a:off x="3401568" y="425196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</a:rPr>
              <a:t>Clothing triggers the Halo Effect immediately. Dress for the impression you want to leave — not just the minimum.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2011680" cy="256032"/>
          </a:xfrm>
          <a:prstGeom prst="roundRect">
            <a:avLst>
              <a:gd name="adj" fmla="val 42857"/>
            </a:avLst>
          </a:prstGeom>
          <a:solidFill>
            <a:srgbClr val="F0A5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1B2A"/>
                </a:solidFill>
              </a:rPr>
              <a:t>REAL-WORLD APPLICATION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11480" y="566928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D1B2A"/>
                </a:solidFill>
              </a:rPr>
              <a:t>The Interview Room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11480" y="1207008"/>
            <a:ext cx="8321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A93A8"/>
                </a:solidFill>
              </a:rPr>
              <a:t>Research: Interviewers decide YES or NO within 4 minutes — often in the first 30 seconds.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11480" y="1609344"/>
            <a:ext cx="8321040" cy="0"/>
          </a:xfrm>
          <a:prstGeom prst="line">
            <a:avLst/>
          </a:prstGeom>
          <a:noFill/>
          <a:ln w="9525">
            <a:solidFill>
              <a:srgbClr val="E8EDF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7472" y="1737360"/>
            <a:ext cx="3931920" cy="3017520"/>
          </a:xfrm>
          <a:prstGeom prst="rect">
            <a:avLst/>
          </a:prstGeom>
          <a:solidFill>
            <a:srgbClr val="FFF5F5"/>
          </a:solidFill>
          <a:ln w="12700">
            <a:solidFill>
              <a:srgbClr val="FFCDD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1737360"/>
            <a:ext cx="3931920" cy="411480"/>
          </a:xfrm>
          <a:prstGeom prst="rect">
            <a:avLst/>
          </a:prstGeom>
          <a:solidFill>
            <a:srgbClr val="C6282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783080"/>
            <a:ext cx="3657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SCENARIO A  —  What NOT to do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75488" y="2240280"/>
            <a:ext cx="35661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B71C1C"/>
                </a:solidFill>
              </a:rPr>
              <a:t>Arrive 2 minutes late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B71C1C"/>
                </a:solidFill>
              </a:rPr>
              <a:t>Shirt is wrinkled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B71C1C"/>
                </a:solidFill>
              </a:rPr>
              <a:t>Looking at your phone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B71C1C"/>
                </a:solidFill>
              </a:rPr>
              <a:t>Weak handshake, no eye contact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B71C1C"/>
                </a:solidFill>
              </a:rPr>
              <a:t>Sit slumped, arms crossed</a:t>
            </a:r>
            <a:endParaRPr lang="en-US" sz="1100" dirty="0"/>
          </a:p>
          <a:p>
            <a:pPr marL="0" indent="0">
              <a:spcAft>
                <a:spcPts val="500"/>
              </a:spcAft>
              <a:buNone/>
            </a:pP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1737360"/>
            <a:ext cx="3931920" cy="3017520"/>
          </a:xfrm>
          <a:prstGeom prst="rect">
            <a:avLst/>
          </a:prstGeom>
          <a:solidFill>
            <a:srgbClr val="F1F8E9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54880" y="1737360"/>
            <a:ext cx="3931920" cy="411480"/>
          </a:xfrm>
          <a:prstGeom prst="rect">
            <a:avLst/>
          </a:prstGeom>
          <a:solidFill>
            <a:srgbClr val="2E7D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64608" y="1783080"/>
            <a:ext cx="3657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SCENARIO B  —  What to do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64608" y="2240280"/>
            <a:ext cx="35661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5E20"/>
                </a:solidFill>
              </a:rPr>
              <a:t>Arrive 5 minutes early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5E20"/>
                </a:solidFill>
              </a:rPr>
              <a:t>Pressed, professional clothes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5E20"/>
                </a:solidFill>
              </a:rPr>
              <a:t>Phone away. Notebook in hand.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5E20"/>
                </a:solidFill>
              </a:rPr>
              <a:t>Firm handshake, direct eye contact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5E20"/>
                </a:solidFill>
              </a:rPr>
              <a:t>Straight posture, open body language</a:t>
            </a:r>
            <a:endParaRPr lang="en-US" sz="1100" dirty="0"/>
          </a:p>
          <a:p>
            <a:pPr marL="0" indent="0">
              <a:spcAft>
                <a:spcPts val="500"/>
              </a:spcAft>
              <a:buNone/>
            </a:pP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160520" y="2971800"/>
            <a:ext cx="658368" cy="658368"/>
          </a:xfrm>
          <a:prstGeom prst="ellipse">
            <a:avLst/>
          </a:prstGeom>
          <a:solidFill>
            <a:srgbClr val="0D1B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60520" y="297180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VS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11480" y="4773168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8A93A8"/>
                </a:solidFill>
              </a:rPr>
              <a:t>Same person. Same CV. Completely different first impression — before a single question is answered.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2011680" cy="256032"/>
          </a:xfrm>
          <a:prstGeom prst="roundRect">
            <a:avLst>
              <a:gd name="adj" fmla="val 42857"/>
            </a:avLst>
          </a:prstGeom>
          <a:solidFill>
            <a:srgbClr val="F0A5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1B2A"/>
                </a:solidFill>
              </a:rPr>
              <a:t>KEY TAKEAWAYS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11480" y="566928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D1B2A"/>
                </a:solidFill>
              </a:rPr>
              <a:t>What You Now Know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11480" y="1234440"/>
            <a:ext cx="8321040" cy="0"/>
          </a:xfrm>
          <a:prstGeom prst="line">
            <a:avLst/>
          </a:prstGeom>
          <a:noFill/>
          <a:ln w="9525">
            <a:solidFill>
              <a:srgbClr val="E8EDF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47472" y="1417320"/>
            <a:ext cx="8321040" cy="594360"/>
          </a:xfrm>
          <a:prstGeom prst="rect">
            <a:avLst/>
          </a:prstGeom>
          <a:solidFill>
            <a:srgbClr val="EFF4FF"/>
          </a:solidFill>
          <a:ln w="6350">
            <a:solidFill>
              <a:srgbClr val="D0DA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08760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A500"/>
                </a:solidFill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43000" y="1490472"/>
            <a:ext cx="7406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235"/>
                </a:solidFill>
              </a:rPr>
              <a:t>You are judged in 100ms — this is hardwired neuroscience. It will never change.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47472" y="2130552"/>
            <a:ext cx="832104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A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221992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A500"/>
                </a:solidFill>
              </a:rPr>
              <a:t>02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43000" y="2203704"/>
            <a:ext cx="7406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235"/>
                </a:solidFill>
              </a:rPr>
              <a:t>Warmth is judged before competence. Be human first. Be brilliant second.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47472" y="2843784"/>
            <a:ext cx="8321040" cy="594360"/>
          </a:xfrm>
          <a:prstGeom prst="rect">
            <a:avLst/>
          </a:prstGeom>
          <a:solidFill>
            <a:srgbClr val="EFF4FF"/>
          </a:solidFill>
          <a:ln w="6350">
            <a:solidFill>
              <a:srgbClr val="D0DA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935224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A500"/>
                </a:solidFill>
              </a:rPr>
              <a:t>03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43000" y="2916936"/>
            <a:ext cx="7406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235"/>
                </a:solidFill>
              </a:rPr>
              <a:t>The Halo Effect: one strong positive signal shapes the entire impression.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47472" y="3557016"/>
            <a:ext cx="832104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A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648456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A500"/>
                </a:solidFill>
              </a:rPr>
              <a:t>04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43000" y="3630168"/>
            <a:ext cx="7406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235"/>
                </a:solidFill>
              </a:rPr>
              <a:t>93% of your first impression is non-verbal — and entirely within your control.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347472" y="4270248"/>
            <a:ext cx="8321040" cy="594360"/>
          </a:xfrm>
          <a:prstGeom prst="rect">
            <a:avLst/>
          </a:prstGeom>
          <a:solidFill>
            <a:srgbClr val="EFF4FF"/>
          </a:solidFill>
          <a:ln w="6350">
            <a:solidFill>
              <a:srgbClr val="D0DA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4361688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A500"/>
                </a:solidFill>
              </a:rPr>
              <a:t>05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43000" y="4343400"/>
            <a:ext cx="7406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235"/>
                </a:solidFill>
              </a:rPr>
              <a:t>Every professional interaction is an opportunity to design your first impression.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0" y="457200"/>
            <a:ext cx="5486400" cy="5486400"/>
          </a:xfrm>
          <a:prstGeom prst="ellipse">
            <a:avLst/>
          </a:prstGeom>
          <a:solidFill>
            <a:srgbClr val="1A3A6E">
              <a:alpha val="30000"/>
            </a:srgbClr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70000"/>
          </a:blip>
          <a:stretch>
            <a:fillRect/>
          </a:stretch>
        </p:blipFill>
        <p:spPr>
          <a:xfrm>
            <a:off x="7772400" y="457200"/>
            <a:ext cx="1097280" cy="109728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960120"/>
            <a:ext cx="640080" cy="64008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57200" y="150876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</a:rPr>
              <a:t>"You never get a second chance</a:t>
            </a:r>
            <a:endParaRPr lang="en-US" sz="34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</a:rPr>
              <a:t>to make a first impression."</a:t>
            </a:r>
            <a:endParaRPr lang="en-US" sz="3400" dirty="0"/>
          </a:p>
        </p:txBody>
      </p:sp>
      <p:sp>
        <p:nvSpPr>
          <p:cNvPr id="6" name="Text 2"/>
          <p:cNvSpPr/>
          <p:nvPr/>
        </p:nvSpPr>
        <p:spPr>
          <a:xfrm>
            <a:off x="457200" y="318211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0A500"/>
                </a:solidFill>
              </a:rPr>
              <a:t>— Will Rogers</a:t>
            </a:r>
            <a:endParaRPr lang="en-US" sz="1400" dirty="0"/>
          </a:p>
        </p:txBody>
      </p:sp>
      <p:sp>
        <p:nvSpPr>
          <p:cNvPr id="7" name="Shape 3"/>
          <p:cNvSpPr/>
          <p:nvPr/>
        </p:nvSpPr>
        <p:spPr>
          <a:xfrm>
            <a:off x="457200" y="3703320"/>
            <a:ext cx="8229600" cy="0"/>
          </a:xfrm>
          <a:prstGeom prst="line">
            <a:avLst/>
          </a:prstGeom>
          <a:noFill/>
          <a:ln w="9525">
            <a:solidFill>
              <a:srgbClr val="243450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457200" y="385876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BDD5EA"/>
                </a:solidFill>
              </a:rPr>
              <a:t>Now go design yours. Every time.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2926080" y="4526280"/>
            <a:ext cx="3291840" cy="438912"/>
          </a:xfrm>
          <a:prstGeom prst="roundRect">
            <a:avLst>
              <a:gd name="adj" fmla="val 25000"/>
            </a:avLst>
          </a:prstGeom>
          <a:solidFill>
            <a:srgbClr val="F0A5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2926080" y="4526280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</a:rPr>
              <a:t>THANK YOU  ·  Q&amp;A OPEN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</TotalTime>
  <Words>919</Words>
  <Application>Microsoft Office PowerPoint</Application>
  <PresentationFormat>On-screen Show (16:9)</PresentationFormat>
  <Paragraphs>155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4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Parth Parikh</cp:lastModifiedBy>
  <cp:revision>2</cp:revision>
  <dcterms:created xsi:type="dcterms:W3CDTF">2026-06-01T19:04:12Z</dcterms:created>
  <dcterms:modified xsi:type="dcterms:W3CDTF">2026-06-02T18:37:32Z</dcterms:modified>
</cp:coreProperties>
</file>